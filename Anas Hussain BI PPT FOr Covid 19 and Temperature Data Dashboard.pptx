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39"/>
  </p:notesMasterIdLst>
  <p:handoutMasterIdLst>
    <p:handoutMasterId r:id="rId40"/>
  </p:handoutMasterIdLst>
  <p:sldIdLst>
    <p:sldId id="256" r:id="rId5"/>
    <p:sldId id="290" r:id="rId6"/>
    <p:sldId id="298" r:id="rId7"/>
    <p:sldId id="299" r:id="rId8"/>
    <p:sldId id="304" r:id="rId9"/>
    <p:sldId id="303" r:id="rId10"/>
    <p:sldId id="300" r:id="rId11"/>
    <p:sldId id="271" r:id="rId12"/>
    <p:sldId id="301" r:id="rId13"/>
    <p:sldId id="306" r:id="rId14"/>
    <p:sldId id="307" r:id="rId15"/>
    <p:sldId id="308" r:id="rId16"/>
    <p:sldId id="309" r:id="rId17"/>
    <p:sldId id="296" r:id="rId18"/>
    <p:sldId id="297" r:id="rId19"/>
    <p:sldId id="310" r:id="rId20"/>
    <p:sldId id="311" r:id="rId21"/>
    <p:sldId id="312" r:id="rId22"/>
    <p:sldId id="313" r:id="rId23"/>
    <p:sldId id="314" r:id="rId24"/>
    <p:sldId id="315" r:id="rId25"/>
    <p:sldId id="316" r:id="rId26"/>
    <p:sldId id="318" r:id="rId27"/>
    <p:sldId id="317" r:id="rId28"/>
    <p:sldId id="295" r:id="rId29"/>
    <p:sldId id="283" r:id="rId30"/>
    <p:sldId id="257" r:id="rId31"/>
    <p:sldId id="275" r:id="rId32"/>
    <p:sldId id="288" r:id="rId33"/>
    <p:sldId id="276" r:id="rId34"/>
    <p:sldId id="289" r:id="rId35"/>
    <p:sldId id="282" r:id="rId36"/>
    <p:sldId id="284" r:id="rId37"/>
    <p:sldId id="285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Morph, Annotate, Work Together, Tell Me" id="{B9B51309-D148-4332-87C2-07BE32FBCA3B}">
          <p14:sldIdLst>
            <p14:sldId id="290"/>
            <p14:sldId id="298"/>
            <p14:sldId id="299"/>
            <p14:sldId id="304"/>
            <p14:sldId id="303"/>
            <p14:sldId id="300"/>
            <p14:sldId id="271"/>
            <p14:sldId id="301"/>
            <p14:sldId id="306"/>
            <p14:sldId id="307"/>
            <p14:sldId id="308"/>
            <p14:sldId id="309"/>
            <p14:sldId id="296"/>
            <p14:sldId id="297"/>
            <p14:sldId id="310"/>
            <p14:sldId id="311"/>
            <p14:sldId id="312"/>
            <p14:sldId id="313"/>
            <p14:sldId id="314"/>
            <p14:sldId id="315"/>
            <p14:sldId id="316"/>
            <p14:sldId id="318"/>
            <p14:sldId id="317"/>
            <p14:sldId id="295"/>
            <p14:sldId id="283"/>
            <p14:sldId id="257"/>
            <p14:sldId id="275"/>
            <p14:sldId id="288"/>
            <p14:sldId id="276"/>
            <p14:sldId id="289"/>
          </p14:sldIdLst>
        </p14:section>
        <p14:section name="Learn More" id="{2CC34DB2-6590-42C0-AD4B-A04C6060184E}">
          <p14:sldIdLst>
            <p14:sldId id="282"/>
            <p14:sldId id="284"/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24726"/>
    <a:srgbClr val="404040"/>
    <a:srgbClr val="FF9B45"/>
    <a:srgbClr val="DD462F"/>
    <a:srgbClr val="F8CFB6"/>
    <a:srgbClr val="F8CAB6"/>
    <a:srgbClr val="923922"/>
    <a:srgbClr val="F5F5F5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241" autoAdjust="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select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1780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select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057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baseline="0" dirty="0"/>
              <a:t>Slide Show mode, select the arrows to visit 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41729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0" name="Rectangle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Edit Master text styles</a:t>
            </a:r>
          </a:p>
          <a:p>
            <a:pPr marL="0" lvl="1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endParaRPr lang="en-US" sz="1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9A7371B-56B0-42F9-B936-504852E7821A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asMega/convid-19-dashboard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anchor="ctr" anchorCtr="0">
            <a:normAutofit/>
          </a:bodyPr>
          <a:lstStyle/>
          <a:p>
            <a:r>
              <a:rPr lang="en-US" sz="4800" b="1" dirty="0">
                <a:solidFill>
                  <a:srgbClr val="F2F2F2"/>
                </a:solidFill>
              </a:rPr>
              <a:t>COVID-19 Global </a:t>
            </a:r>
            <a:r>
              <a:rPr lang="en-US" sz="4800" b="1" dirty="0" smtClean="0">
                <a:solidFill>
                  <a:srgbClr val="F2F2F2"/>
                </a:solidFill>
              </a:rPr>
              <a:t>Dashboard</a:t>
            </a:r>
            <a:endParaRPr lang="en-US" sz="4800" b="1" dirty="0">
              <a:solidFill>
                <a:srgbClr val="F2F2F2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2646060"/>
          </a:xfrm>
        </p:spPr>
        <p:txBody>
          <a:bodyPr>
            <a:normAutofit fontScale="77500" lnSpcReduction="20000"/>
          </a:bodyPr>
          <a:lstStyle/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Presented By:</a:t>
            </a:r>
            <a:r>
              <a:rPr lang="en-US" sz="2400" dirty="0"/>
              <a:t> Anas </a:t>
            </a:r>
            <a:r>
              <a:rPr lang="en-US" sz="2400" dirty="0" smtClean="0"/>
              <a:t>Hussain (DS-017 23/24)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Department:</a:t>
            </a:r>
            <a:r>
              <a:rPr lang="en-US" sz="2400" dirty="0"/>
              <a:t> Computer Science, Data Science Institute, NED University</a:t>
            </a:r>
            <a:br>
              <a:rPr lang="en-US" sz="2400" dirty="0"/>
            </a:br>
            <a:r>
              <a:rPr lang="en-US" sz="2400" b="1" dirty="0"/>
              <a:t>Subject:</a:t>
            </a:r>
            <a:r>
              <a:rPr lang="en-US" sz="2400" dirty="0"/>
              <a:t> </a:t>
            </a:r>
            <a:r>
              <a:rPr lang="en-US" sz="2400" dirty="0" smtClean="0"/>
              <a:t>Business Intelligence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b="1" dirty="0"/>
              <a:t>GitHub:</a:t>
            </a:r>
            <a:r>
              <a:rPr lang="en-US" sz="2400" dirty="0"/>
              <a:t> </a:t>
            </a:r>
            <a:r>
              <a:rPr lang="en-US" sz="2400" dirty="0">
                <a:solidFill>
                  <a:schemeClr val="bg1"/>
                </a:solidFill>
                <a:hlinkClick r:id="rId3"/>
              </a:rPr>
              <a:t>https://</a:t>
            </a:r>
            <a:r>
              <a:rPr lang="en-US" sz="2400" dirty="0" smtClean="0">
                <a:solidFill>
                  <a:schemeClr val="bg1"/>
                </a:solidFill>
                <a:hlinkClick r:id="rId3"/>
              </a:rPr>
              <a:t>github.com/AnasMega/convid-19-dashboard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b="1" dirty="0" smtClean="0"/>
              <a:t>Dataset</a:t>
            </a:r>
            <a:r>
              <a:rPr lang="en-US" sz="2400" b="1" dirty="0" smtClean="0">
                <a:solidFill>
                  <a:schemeClr val="bg1"/>
                </a:solidFill>
              </a:rPr>
              <a:t>: </a:t>
            </a:r>
            <a:r>
              <a:rPr lang="en-US" sz="2400" u="sng" dirty="0">
                <a:solidFill>
                  <a:schemeClr val="bg1"/>
                </a:solidFill>
              </a:rPr>
              <a:t>https://ourworldindata.org/covid-cases</a:t>
            </a:r>
            <a:endParaRPr lang="en-US" sz="2400" u="sng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984" y="295888"/>
            <a:ext cx="1375355" cy="1380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Overview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462113"/>
            <a:ext cx="9135750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748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Framework for Data </a:t>
            </a:r>
            <a:r>
              <a:rPr lang="en-US" dirty="0" smtClean="0"/>
              <a:t>Science</a:t>
            </a:r>
            <a:endParaRPr lang="en-US" b="1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061" y="4004119"/>
            <a:ext cx="4402075" cy="2022575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061" y="1560775"/>
            <a:ext cx="4494609" cy="2022574"/>
          </a:xfrm>
          <a:prstGeom prst="rect">
            <a:avLst/>
          </a:prstGeom>
        </p:spPr>
      </p:pic>
      <p:pic>
        <p:nvPicPr>
          <p:cNvPr id="10" name="Content Placeholder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815" y="1560776"/>
            <a:ext cx="3928310" cy="205254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815" y="3969523"/>
            <a:ext cx="3928310" cy="2057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22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Framework for data engineering </a:t>
            </a:r>
            <a:r>
              <a:rPr lang="en-US" b="1" dirty="0" smtClean="0"/>
              <a:t>Django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Django is software you can use to develop web applications quickly and efficiently. Most web applications have several common functions, like authentication, information retrieval from a database, and cookie management. Developers have to code similar functionality into every web app they write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4140" y="2809459"/>
            <a:ext cx="6904386" cy="3106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4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Framework for data engineering </a:t>
            </a:r>
            <a:r>
              <a:rPr lang="en-US" b="1" dirty="0" smtClean="0"/>
              <a:t>Django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This framework is highly flexible and scalable, allowing developers to start small and add functionality as the project grows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Best </a:t>
            </a:r>
            <a:r>
              <a:rPr lang="en-US" b="1" dirty="0"/>
              <a:t>for</a:t>
            </a:r>
            <a:r>
              <a:rPr lang="en-US" dirty="0"/>
              <a:t>: Large, complex projects that need to grow over time and require a flexible architecture.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9" name="Content Placeholder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144" y="3053034"/>
            <a:ext cx="5973382" cy="27445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07" y="3252780"/>
            <a:ext cx="4527241" cy="2856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1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Framework for Data Engineering- </a:t>
            </a:r>
            <a:r>
              <a:rPr lang="en-US" b="1" dirty="0" smtClean="0"/>
              <a:t>Flask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6" y="1462112"/>
            <a:ext cx="5781791" cy="4355592"/>
          </a:xfrm>
        </p:spPr>
        <p:txBody>
          <a:bodyPr/>
          <a:lstStyle/>
          <a:p>
            <a:r>
              <a:rPr lang="en-US" dirty="0"/>
              <a:t>Flask is a lightweight Python </a:t>
            </a:r>
            <a:r>
              <a:rPr lang="en-US" dirty="0" smtClean="0"/>
              <a:t>micro framework </a:t>
            </a:r>
            <a:r>
              <a:rPr lang="en-US" dirty="0"/>
              <a:t>used for building web applications. It's designed to be flexible and easily extendable, making it a good choice for both beginners and experienced developers. Flask helps developers create web applications by providing tools for handling requests, routing URLs, and rendering templates, among other features. 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200" y="2914442"/>
            <a:ext cx="6774278" cy="290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09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Framework for Data Engineering – </a:t>
            </a:r>
            <a:r>
              <a:rPr lang="en-US" b="1" dirty="0" smtClean="0"/>
              <a:t>Streamlet 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6096" y="1872881"/>
            <a:ext cx="7832176" cy="40923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21207" y="1430052"/>
            <a:ext cx="3294889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474747"/>
                </a:solidFill>
                <a:latin typeface="Google Sans"/>
              </a:rPr>
              <a:t> </a:t>
            </a:r>
            <a:r>
              <a:rPr lang="en-US" dirty="0" err="1">
                <a:solidFill>
                  <a:srgbClr val="474747"/>
                </a:solidFill>
                <a:latin typeface="Google Sans"/>
              </a:rPr>
              <a:t>Streamlit</a:t>
            </a:r>
            <a:r>
              <a:rPr lang="en-US" dirty="0">
                <a:solidFill>
                  <a:srgbClr val="474747"/>
                </a:solidFill>
                <a:latin typeface="Google Sans"/>
              </a:rPr>
              <a:t> is best used for: </a:t>
            </a:r>
            <a:r>
              <a:rPr lang="en-US" dirty="0">
                <a:solidFill>
                  <a:srgbClr val="040C28"/>
                </a:solidFill>
                <a:latin typeface="Google Sans"/>
              </a:rPr>
              <a:t>Data dashboards</a:t>
            </a:r>
            <a:r>
              <a:rPr lang="en-US" dirty="0">
                <a:solidFill>
                  <a:srgbClr val="474747"/>
                </a:solidFill>
                <a:latin typeface="Google Sans"/>
              </a:rPr>
              <a:t>: </a:t>
            </a:r>
            <a:r>
              <a:rPr lang="en-US" dirty="0" err="1">
                <a:solidFill>
                  <a:srgbClr val="474747"/>
                </a:solidFill>
                <a:latin typeface="Google Sans"/>
              </a:rPr>
              <a:t>Streamlit</a:t>
            </a:r>
            <a:r>
              <a:rPr lang="en-US" dirty="0">
                <a:solidFill>
                  <a:srgbClr val="474747"/>
                </a:solidFill>
                <a:latin typeface="Google Sans"/>
              </a:rPr>
              <a:t> allows users to build interactive dashboards to monitor key performance indicators (KPIs). </a:t>
            </a:r>
            <a:endParaRPr lang="en-US" dirty="0" smtClean="0">
              <a:solidFill>
                <a:srgbClr val="474747"/>
              </a:solidFill>
              <a:latin typeface="Google Sans"/>
            </a:endParaRPr>
          </a:p>
          <a:p>
            <a:r>
              <a:rPr lang="en-US" dirty="0" smtClean="0">
                <a:solidFill>
                  <a:srgbClr val="474747"/>
                </a:solidFill>
                <a:latin typeface="Google Sans"/>
              </a:rPr>
              <a:t>Machine </a:t>
            </a:r>
            <a:r>
              <a:rPr lang="en-US" dirty="0">
                <a:solidFill>
                  <a:srgbClr val="474747"/>
                </a:solidFill>
                <a:latin typeface="Google Sans"/>
              </a:rPr>
              <a:t>learning models: Users can share trained machine learning models with investors and stakeholders via interactive apps.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610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/>
              <a:t>Project Overview</a:t>
            </a:r>
          </a:p>
        </p:txBody>
      </p:sp>
      <p:sp>
        <p:nvSpPr>
          <p:cNvPr id="38" name="Content Placeholder 17"/>
          <p:cNvSpPr txBox="1">
            <a:spLocks/>
          </p:cNvSpPr>
          <p:nvPr/>
        </p:nvSpPr>
        <p:spPr>
          <a:xfrm>
            <a:off x="541610" y="1524708"/>
            <a:ext cx="4321704" cy="38715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ts val="1800"/>
              </a:lnSpc>
              <a:spcBef>
                <a:spcPts val="100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lang="en-US"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600"/>
              </a:spcAft>
              <a:buNone/>
              <a:defRPr/>
            </a:pPr>
            <a:r>
              <a:rPr lang="en-US" b="1" dirty="0"/>
              <a:t>Objective:</a:t>
            </a:r>
            <a:r>
              <a:rPr lang="en-US" dirty="0"/>
              <a:t> Visualize global COVID-19 </a:t>
            </a:r>
            <a:r>
              <a:rPr lang="en-US" dirty="0" smtClean="0"/>
              <a:t>trends.</a:t>
            </a:r>
            <a:endParaRPr lang="en-US" dirty="0" smtClean="0"/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>
              <a:spcAft>
                <a:spcPts val="600"/>
              </a:spcAft>
              <a:buNone/>
              <a:defRPr/>
            </a:pP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2902B34-70D7-42D0-8649-809D042EFB8A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539496" y="2357057"/>
            <a:ext cx="932012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Tools Used: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Pandas,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ARIMA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39496" y="3425307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Focus: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Data-driven decisions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Interactive &amp; animated visualizations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Forecasting future COVID-19 cases</a:t>
            </a:r>
          </a:p>
        </p:txBody>
      </p:sp>
      <p:sp>
        <p:nvSpPr>
          <p:cNvPr id="2" name="Rectangle 1"/>
          <p:cNvSpPr/>
          <p:nvPr/>
        </p:nvSpPr>
        <p:spPr>
          <a:xfrm>
            <a:off x="9526867" y="1386885"/>
            <a:ext cx="1941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en-US" dirty="0" err="1" smtClean="0">
                <a:latin typeface="Arial" panose="020B0604020202020204" pitchFamily="34" charset="0"/>
              </a:rPr>
              <a:t>Seaborn</a:t>
            </a:r>
            <a:r>
              <a:rPr lang="en-US" altLang="en-US" dirty="0" smtClean="0">
                <a:latin typeface="Arial" panose="020B0604020202020204" pitchFamily="34" charset="0"/>
              </a:rPr>
              <a:t>: Graphs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436" y="3334533"/>
            <a:ext cx="5372424" cy="252319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181232" y="1833844"/>
            <a:ext cx="46912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 </a:t>
            </a:r>
            <a:r>
              <a:rPr lang="en-US" sz="1600" dirty="0" err="1"/>
              <a:t>AutoRegressive</a:t>
            </a:r>
            <a:r>
              <a:rPr lang="en-US" sz="1600" dirty="0"/>
              <a:t> Integrated Moving Average (ARIMA) model is used for time series analysis and forecasting</a:t>
            </a:r>
            <a:r>
              <a:rPr lang="en-US" sz="1600" dirty="0">
                <a:solidFill>
                  <a:srgbClr val="E6E8F0"/>
                </a:solidFill>
                <a:latin typeface="Google Sans"/>
              </a:rPr>
              <a:t>. </a:t>
            </a:r>
            <a:r>
              <a:rPr lang="en-US" sz="1600" dirty="0">
                <a:latin typeface="Google Sans"/>
              </a:rPr>
              <a:t>Specifically, it is a statistical method for predicting future values of a time series based on its past values,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57616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Streamlet Web Server configuration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21207" y="1480906"/>
            <a:ext cx="9253607" cy="438328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977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Streamlet </a:t>
            </a:r>
            <a:r>
              <a:rPr lang="en-US" dirty="0"/>
              <a:t>O</a:t>
            </a:r>
            <a:r>
              <a:rPr lang="en-US" dirty="0" smtClean="0"/>
              <a:t>verview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98" y="1260069"/>
            <a:ext cx="9553758" cy="4771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209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657148"/>
            <a:ext cx="11127319" cy="353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959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Streamlet Overview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618744" y="1494183"/>
            <a:ext cx="3118104" cy="452361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438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Streamlet </a:t>
            </a:r>
            <a:r>
              <a:rPr lang="en-US" dirty="0" smtClean="0"/>
              <a:t>Overview (Sidebar)</a:t>
            </a:r>
            <a:endParaRPr lang="en-US" dirty="0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39496" y="1625564"/>
            <a:ext cx="11277100" cy="2020480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798079"/>
            <a:ext cx="7279287" cy="2253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605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 –Our World in Data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6320"/>
          <a:stretch/>
        </p:blipFill>
        <p:spPr>
          <a:xfrm>
            <a:off x="461628" y="1235992"/>
            <a:ext cx="9548598" cy="451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952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21551"/>
            <a:ext cx="6877119" cy="640080"/>
          </a:xfrm>
        </p:spPr>
        <p:txBody>
          <a:bodyPr/>
          <a:lstStyle/>
          <a:p>
            <a:r>
              <a:rPr lang="en-US" dirty="0" smtClean="0"/>
              <a:t>Data loading (pandas)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557236"/>
            <a:ext cx="11125338" cy="24178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583740"/>
            <a:ext cx="11125338" cy="2417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796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Business Analysis (</a:t>
            </a:r>
            <a:r>
              <a:rPr lang="en-US" dirty="0" err="1" smtClean="0"/>
              <a:t>Descriptve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435608"/>
            <a:ext cx="10336440" cy="4668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263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Analysis </a:t>
            </a:r>
            <a:r>
              <a:rPr lang="en-US" dirty="0" smtClean="0"/>
              <a:t>(Diagnostic)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21207" y="1467323"/>
            <a:ext cx="9603455" cy="4533863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542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Analysis </a:t>
            </a:r>
            <a:r>
              <a:rPr lang="en-US" dirty="0" smtClean="0"/>
              <a:t>(Predictive)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435608"/>
            <a:ext cx="8564170" cy="465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583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Analysis </a:t>
            </a:r>
            <a:r>
              <a:rPr lang="en-US" dirty="0" smtClean="0"/>
              <a:t>(Predictive)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07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Analysis </a:t>
            </a:r>
            <a:r>
              <a:rPr lang="en-US" dirty="0" smtClean="0"/>
              <a:t>(Prescriptive)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435608"/>
            <a:ext cx="10075495" cy="465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24473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Analysis </a:t>
            </a:r>
            <a:r>
              <a:rPr lang="en-US" dirty="0" smtClean="0"/>
              <a:t>(Descriptive)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5" y="1435607"/>
            <a:ext cx="10760745" cy="458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481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Analysis </a:t>
            </a:r>
            <a:r>
              <a:rPr lang="en-US" dirty="0" smtClean="0"/>
              <a:t>(Descriptive)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452564"/>
            <a:ext cx="9534525" cy="493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725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Analysis </a:t>
            </a:r>
            <a:r>
              <a:rPr lang="en-US" dirty="0" smtClean="0"/>
              <a:t>(Diagnostic)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435608"/>
            <a:ext cx="7832430" cy="447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7078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Analysis </a:t>
            </a:r>
            <a:r>
              <a:rPr lang="en-US" dirty="0" smtClean="0"/>
              <a:t>(Prescriptive)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040" y="2648264"/>
            <a:ext cx="628738" cy="142894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40" y="2800664"/>
            <a:ext cx="628738" cy="142894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717" y="2648264"/>
            <a:ext cx="628738" cy="142894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411" y="2519054"/>
            <a:ext cx="628738" cy="14289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622" y="3189685"/>
            <a:ext cx="628738" cy="14289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2" y="3262773"/>
            <a:ext cx="628738" cy="1428949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7569" y="3189684"/>
            <a:ext cx="628738" cy="14289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200" y="3102605"/>
            <a:ext cx="628738" cy="1428949"/>
          </a:xfrm>
          <a:prstGeom prst="rect">
            <a:avLst/>
          </a:prstGeom>
        </p:spPr>
      </p:pic>
      <p:sp>
        <p:nvSpPr>
          <p:cNvPr id="16" name="Content Placeholder 15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048264"/>
            <a:ext cx="11046743" cy="2483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44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9549893" cy="640080"/>
          </a:xfrm>
        </p:spPr>
        <p:txBody>
          <a:bodyPr>
            <a:normAutofit/>
          </a:bodyPr>
          <a:lstStyle/>
          <a:p>
            <a:r>
              <a:rPr lang="en-US" dirty="0" smtClean="0"/>
              <a:t>Map View – </a:t>
            </a:r>
            <a:r>
              <a:rPr lang="en-US" b="1" dirty="0" err="1" smtClean="0"/>
              <a:t>Streamlit</a:t>
            </a:r>
            <a:r>
              <a:rPr lang="en-US" b="1" dirty="0" smtClean="0"/>
              <a:t> -</a:t>
            </a:r>
            <a:r>
              <a:rPr lang="en-US" dirty="0"/>
              <a:t>Choropleth </a:t>
            </a:r>
            <a:r>
              <a:rPr lang="en-US" dirty="0" smtClean="0"/>
              <a:t>Map</a:t>
            </a:r>
            <a:endParaRPr lang="en-US" b="1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0"/>
          </p:nvPr>
        </p:nvPicPr>
        <p:blipFill>
          <a:blip r:embed="rId2"/>
          <a:stretch>
            <a:fillRect/>
          </a:stretch>
        </p:blipFill>
        <p:spPr>
          <a:xfrm>
            <a:off x="521206" y="1450585"/>
            <a:ext cx="9693187" cy="431521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8" name="Content Placeholder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7" y="1450585"/>
            <a:ext cx="9693187" cy="4315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6358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/ Diagram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B61B2A2-66AF-4FCA-BA14-13D517E7838C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539496" y="1727537"/>
            <a:ext cx="7698774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Language: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Libraries: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Pandas,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Seaborn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Plotly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ARIMA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Model: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ARIMA (Auto Regressive Integrated Moving Average)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Deployment: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Localhost /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github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AnasMega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 Web App with sidebar filters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Source: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COVID: Our World in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6712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 smtClean="0">
                <a:latin typeface="Segoe UI Light" panose="020B0502040204020203" pitchFamily="34" charset="0"/>
                <a:cs typeface="Segoe UI Light" panose="020B0502040204020203" pitchFamily="34" charset="0"/>
              </a:rPr>
              <a:t>Flowchart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FA8F2B7-8078-4F33-910B-263F150452CB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39496" y="1402638"/>
            <a:ext cx="6096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START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Load &amp; Cache Data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User Filters (Country, Date)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Data Aggregation &amp; Transformation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Generate Visualizations</a:t>
            </a:r>
          </a:p>
          <a:p>
            <a:r>
              <a:rPr lang="en-US" dirty="0"/>
              <a:t>   ↓</a:t>
            </a:r>
          </a:p>
          <a:p>
            <a:r>
              <a:rPr lang="en-US" dirty="0"/>
              <a:t>ARIMA Model Forecast</a:t>
            </a:r>
          </a:p>
          <a:p>
            <a:r>
              <a:rPr lang="en-US" dirty="0"/>
              <a:t>   </a:t>
            </a:r>
            <a:r>
              <a:rPr lang="en-US" dirty="0" smtClean="0"/>
              <a:t>↓</a:t>
            </a:r>
          </a:p>
          <a:p>
            <a:r>
              <a:rPr lang="en-US" dirty="0" smtClean="0"/>
              <a:t>Display Dashboard data</a:t>
            </a:r>
            <a:endParaRPr lang="en-US" dirty="0"/>
          </a:p>
          <a:p>
            <a:r>
              <a:rPr lang="en-US" dirty="0" smtClean="0"/>
              <a:t> ↓</a:t>
            </a:r>
            <a:endParaRPr lang="en-US" dirty="0"/>
          </a:p>
          <a:p>
            <a:r>
              <a:rPr lang="en-US" dirty="0"/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328676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</a:t>
            </a:r>
            <a:r>
              <a:rPr lang="en-US" dirty="0" err="1"/>
              <a:t>Streamlit</a:t>
            </a:r>
            <a:r>
              <a:rPr lang="en-US" dirty="0"/>
              <a:t>?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89CDE23-59FB-4857-AB6D-FCF158996660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39496" y="1344546"/>
            <a:ext cx="9888156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 to develop: Write Python scripts, and your app is ready.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 UI with minimal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Great for: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science dashboards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demos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Internal tools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24070" y="5280622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Streamlit</a:t>
            </a:r>
            <a:r>
              <a:rPr lang="en-US" b="1" dirty="0"/>
              <a:t> Community Cloud (free)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Private cloud / Docker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Heroku</a:t>
            </a:r>
            <a:r>
              <a:rPr lang="en-US" b="1" dirty="0"/>
              <a:t> / AWS / Azure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361044" y="2726692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import </a:t>
            </a:r>
            <a:r>
              <a:rPr lang="en-US" dirty="0" err="1"/>
              <a:t>streamlit</a:t>
            </a:r>
            <a:r>
              <a:rPr lang="en-US" dirty="0"/>
              <a:t> as </a:t>
            </a:r>
            <a:r>
              <a:rPr lang="en-US" dirty="0" err="1"/>
              <a:t>st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st.title</a:t>
            </a:r>
            <a:r>
              <a:rPr lang="en-US" dirty="0"/>
              <a:t>("BMI Calculator")</a:t>
            </a:r>
          </a:p>
          <a:p>
            <a:endParaRPr lang="en-US" dirty="0"/>
          </a:p>
          <a:p>
            <a:r>
              <a:rPr lang="en-US" dirty="0"/>
              <a:t>weight = </a:t>
            </a:r>
            <a:r>
              <a:rPr lang="en-US" dirty="0" err="1"/>
              <a:t>st.number_input</a:t>
            </a:r>
            <a:r>
              <a:rPr lang="en-US" dirty="0"/>
              <a:t>("Enter your weight (kg):")</a:t>
            </a:r>
          </a:p>
          <a:p>
            <a:r>
              <a:rPr lang="en-US" dirty="0"/>
              <a:t>height = </a:t>
            </a:r>
            <a:r>
              <a:rPr lang="en-US" dirty="0" err="1"/>
              <a:t>st.number_input</a:t>
            </a:r>
            <a:r>
              <a:rPr lang="en-US" dirty="0"/>
              <a:t>("Enter your height (m):")</a:t>
            </a:r>
          </a:p>
          <a:p>
            <a:endParaRPr lang="en-US" dirty="0"/>
          </a:p>
          <a:p>
            <a:r>
              <a:rPr lang="en-US" dirty="0"/>
              <a:t>if weight &gt; 0 and height &gt; 0:</a:t>
            </a:r>
          </a:p>
          <a:p>
            <a:r>
              <a:rPr lang="en-US" dirty="0"/>
              <a:t>    </a:t>
            </a:r>
            <a:r>
              <a:rPr lang="en-US" dirty="0" err="1"/>
              <a:t>bmi</a:t>
            </a:r>
            <a:r>
              <a:rPr lang="en-US" dirty="0"/>
              <a:t> = weight / (height ** 2)</a:t>
            </a:r>
          </a:p>
          <a:p>
            <a:r>
              <a:rPr lang="en-US" dirty="0"/>
              <a:t>    </a:t>
            </a:r>
            <a:r>
              <a:rPr lang="en-US" dirty="0" err="1"/>
              <a:t>st.success</a:t>
            </a:r>
            <a:r>
              <a:rPr lang="en-US" dirty="0"/>
              <a:t>(</a:t>
            </a:r>
            <a:r>
              <a:rPr lang="en-US" dirty="0" err="1"/>
              <a:t>f"Your</a:t>
            </a:r>
            <a:r>
              <a:rPr lang="en-US" dirty="0"/>
              <a:t> BMI is: {bmi:.2f}")</a:t>
            </a:r>
          </a:p>
        </p:txBody>
      </p:sp>
    </p:spTree>
    <p:extLst>
      <p:ext uri="{BB962C8B-B14F-4D97-AF65-F5344CB8AC3E}">
        <p14:creationId xmlns:p14="http://schemas.microsoft.com/office/powerpoint/2010/main" val="727668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</a:t>
            </a:r>
            <a:r>
              <a:rPr lang="en-US" dirty="0" err="1"/>
              <a:t>Streamlit</a:t>
            </a:r>
            <a:r>
              <a:rPr lang="en-US" dirty="0"/>
              <a:t>?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89CDE23-59FB-4857-AB6D-FCF158996660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39495" y="1789934"/>
            <a:ext cx="969118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AR</a:t>
            </a:r>
            <a:r>
              <a:rPr lang="en-US" sz="2000" dirty="0"/>
              <a:t> (</a:t>
            </a:r>
            <a:r>
              <a:rPr lang="en-US" sz="2000" dirty="0" err="1"/>
              <a:t>AutoRegressive</a:t>
            </a:r>
            <a:r>
              <a:rPr lang="en-US" sz="2000" dirty="0"/>
              <a:t>): Model that uses past values </a:t>
            </a:r>
            <a:r>
              <a:rPr lang="en-US" sz="2000" dirty="0" smtClean="0"/>
              <a:t>to </a:t>
            </a:r>
            <a:r>
              <a:rPr lang="en-US" sz="2000" dirty="0"/>
              <a:t>predict the current value.</a:t>
            </a:r>
          </a:p>
          <a:p>
            <a:r>
              <a:rPr lang="en-US" sz="2000" b="1" dirty="0"/>
              <a:t>I</a:t>
            </a:r>
            <a:r>
              <a:rPr lang="en-US" sz="2000" dirty="0"/>
              <a:t> (Integrated): Makes the time </a:t>
            </a:r>
            <a:r>
              <a:rPr lang="en-US" sz="2000" dirty="0" smtClean="0"/>
              <a:t>series stationary </a:t>
            </a:r>
            <a:r>
              <a:rPr lang="en-US" sz="2000" dirty="0"/>
              <a:t>(removes trend) </a:t>
            </a:r>
            <a:r>
              <a:rPr lang="en-US" sz="2000" dirty="0" smtClean="0"/>
              <a:t>using differencing</a:t>
            </a:r>
            <a:r>
              <a:rPr lang="en-US" sz="2000" dirty="0"/>
              <a:t>.</a:t>
            </a:r>
          </a:p>
          <a:p>
            <a:r>
              <a:rPr lang="en-US" sz="2000" b="1" dirty="0"/>
              <a:t>MA</a:t>
            </a:r>
            <a:r>
              <a:rPr lang="en-US" sz="2000" dirty="0"/>
              <a:t> (Moving Average): Uses </a:t>
            </a:r>
            <a:r>
              <a:rPr lang="en-US" sz="2000" dirty="0" smtClean="0"/>
              <a:t>past forecast </a:t>
            </a:r>
            <a:r>
              <a:rPr lang="en-US" sz="2000" dirty="0"/>
              <a:t>errors to predict future </a:t>
            </a:r>
            <a:r>
              <a:rPr lang="en-US" sz="2000" dirty="0" smtClean="0"/>
              <a:t>values. ARIMA </a:t>
            </a:r>
            <a:r>
              <a:rPr lang="en-US" sz="2000" dirty="0"/>
              <a:t>is used for </a:t>
            </a:r>
            <a:r>
              <a:rPr lang="en-US" sz="2000" b="1" dirty="0" smtClean="0"/>
              <a:t>forecasting </a:t>
            </a:r>
            <a:r>
              <a:rPr lang="en-US" sz="2000" dirty="0" smtClean="0"/>
              <a:t>time </a:t>
            </a:r>
            <a:r>
              <a:rPr lang="en-US" sz="2000" dirty="0"/>
              <a:t>series data (like stock prices, sales, weather, etc.).</a:t>
            </a:r>
          </a:p>
        </p:txBody>
      </p:sp>
    </p:spTree>
    <p:extLst>
      <p:ext uri="{BB962C8B-B14F-4D97-AF65-F5344CB8AC3E}">
        <p14:creationId xmlns:p14="http://schemas.microsoft.com/office/powerpoint/2010/main" val="339204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 / Insights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FC549AC-CD2F-4056-9F31-75573EF09DC4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39496" y="1492360"/>
            <a:ext cx="9961381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 cases showed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differences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by 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country with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type of business analysis.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Countries like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India, US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showed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higher per capita spikes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predictions gave stable near-future forecasting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9326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1207" y="448056"/>
            <a:ext cx="9285402" cy="640080"/>
          </a:xfrm>
        </p:spPr>
        <p:txBody>
          <a:bodyPr>
            <a:normAutofit/>
          </a:bodyPr>
          <a:lstStyle/>
          <a:p>
            <a:r>
              <a:rPr lang="en-US" dirty="0"/>
              <a:t>Key Performance Indicators (KPIs) for COVID-19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539495" y="1435608"/>
            <a:ext cx="4297547" cy="284484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Case Metrics KPIs</a:t>
            </a:r>
          </a:p>
          <a:p>
            <a:r>
              <a:rPr lang="en-US" b="1" dirty="0"/>
              <a:t>Daily New Cases per Million</a:t>
            </a:r>
            <a:r>
              <a:rPr lang="en-US" dirty="0"/>
              <a:t>: The core metric showing normalized infection rates</a:t>
            </a:r>
          </a:p>
          <a:p>
            <a:r>
              <a:rPr lang="en-US" b="1" dirty="0"/>
              <a:t>7-Day Rolling Average</a:t>
            </a:r>
            <a:r>
              <a:rPr lang="en-US" dirty="0"/>
              <a:t>: Smoothed trend of case progression</a:t>
            </a:r>
          </a:p>
          <a:p>
            <a:r>
              <a:rPr lang="en-US" b="1" dirty="0"/>
              <a:t>Peak Case Rate</a:t>
            </a:r>
            <a:r>
              <a:rPr lang="en-US" dirty="0"/>
              <a:t>: Highest daily cases per million recorded</a:t>
            </a:r>
          </a:p>
          <a:p>
            <a:r>
              <a:rPr lang="en-US" b="1" dirty="0"/>
              <a:t>Case Acceleration</a:t>
            </a:r>
            <a:r>
              <a:rPr lang="en-US" dirty="0"/>
              <a:t>: Rate of change in daily cases (derivative of case curve)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6621EB4E-FDA9-4E8F-8FBC-225647229651}" type="datetime1">
              <a:rPr lang="en-US" smtClean="0"/>
              <a:t>11/24/2025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smtClean="0"/>
              <a:t>Ned University of Engineering and Technology Karachi - Anas Hussain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837042" y="1842367"/>
            <a:ext cx="6096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DeepSeek-CJK-patch"/>
              </a:rPr>
              <a:t> Predictive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04040"/>
                </a:solidFill>
                <a:latin typeface="DeepSeek-CJK-patch"/>
              </a:rPr>
              <a:t>Forecast Accuracy</a:t>
            </a:r>
            <a:r>
              <a:rPr lang="en-US" dirty="0">
                <a:solidFill>
                  <a:srgbClr val="404040"/>
                </a:solidFill>
                <a:latin typeface="DeepSeek-CJK-patch"/>
              </a:rPr>
              <a:t>: How well predictions match actual future values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04040"/>
                </a:solidFill>
                <a:latin typeface="DeepSeek-CJK-patch"/>
              </a:rPr>
              <a:t>Projected Peak Timing</a:t>
            </a:r>
            <a:r>
              <a:rPr lang="en-US" dirty="0">
                <a:solidFill>
                  <a:srgbClr val="404040"/>
                </a:solidFill>
                <a:latin typeface="DeepSeek-CJK-patch"/>
              </a:rPr>
              <a:t>: Predicted date of next case surge</a:t>
            </a:r>
          </a:p>
          <a:p>
            <a:endParaRPr lang="en-US" dirty="0">
              <a:solidFill>
                <a:srgbClr val="404040"/>
              </a:solidFill>
              <a:latin typeface="DeepSeek-CJK-patch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21207" y="428045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404040"/>
                </a:solidFill>
                <a:latin typeface="DeepSeek-CJK-patch"/>
              </a:rPr>
              <a:t>Public Health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04040"/>
                </a:solidFill>
                <a:latin typeface="DeepSeek-CJK-patch"/>
              </a:rPr>
              <a:t>Doubling Time</a:t>
            </a:r>
            <a:r>
              <a:rPr lang="en-US" dirty="0">
                <a:solidFill>
                  <a:srgbClr val="404040"/>
                </a:solidFill>
                <a:latin typeface="DeepSeek-CJK-patch"/>
              </a:rPr>
              <a:t>: Days for cases to double at current rate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04040"/>
                </a:solidFill>
                <a:latin typeface="DeepSeek-CJK-patch"/>
              </a:rPr>
              <a:t>Percent Change</a:t>
            </a:r>
            <a:r>
              <a:rPr lang="en-US" dirty="0">
                <a:solidFill>
                  <a:srgbClr val="404040"/>
                </a:solidFill>
                <a:latin typeface="DeepSeek-CJK-patch"/>
              </a:rPr>
              <a:t>: Week-over-week case changes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404040"/>
                </a:solidFill>
                <a:latin typeface="DeepSeek-CJK-patch"/>
              </a:rPr>
              <a:t>Vaccination Correlation</a:t>
            </a:r>
            <a:r>
              <a:rPr lang="en-US" dirty="0">
                <a:solidFill>
                  <a:srgbClr val="404040"/>
                </a:solidFill>
                <a:latin typeface="DeepSeek-CJK-patch"/>
              </a:rPr>
              <a:t>: (Would require additional data)</a:t>
            </a:r>
            <a:endParaRPr lang="en-US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40556" y="4280451"/>
            <a:ext cx="6096000" cy="135421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solidFill>
                  <a:srgbClr val="404040"/>
                </a:solidFill>
                <a:latin typeface="DeepSeek-CJK-patch"/>
              </a:rPr>
              <a:t>User Engagement KPIs (for dashboard itself)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04040"/>
                </a:solidFill>
                <a:latin typeface="DeepSeek-CJK-patch"/>
              </a:rPr>
              <a:t>Countries Selected</a:t>
            </a:r>
            <a:r>
              <a:rPr lang="en-US" sz="1600" dirty="0">
                <a:solidFill>
                  <a:srgbClr val="404040"/>
                </a:solidFill>
                <a:latin typeface="DeepSeek-CJK-patch"/>
              </a:rPr>
              <a:t>: Breadth of comparative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04040"/>
                </a:solidFill>
                <a:latin typeface="DeepSeek-CJK-patch"/>
              </a:rPr>
              <a:t>Date Range Selected</a:t>
            </a:r>
            <a:r>
              <a:rPr lang="en-US" sz="1600" dirty="0">
                <a:solidFill>
                  <a:srgbClr val="404040"/>
                </a:solidFill>
                <a:latin typeface="DeepSeek-CJK-patch"/>
              </a:rPr>
              <a:t>: Depth of historical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04040"/>
                </a:solidFill>
                <a:latin typeface="DeepSeek-CJK-patch"/>
              </a:rPr>
              <a:t>Visualization Interactions</a:t>
            </a:r>
            <a:r>
              <a:rPr lang="en-US" sz="1600" dirty="0">
                <a:solidFill>
                  <a:srgbClr val="404040"/>
                </a:solidFill>
                <a:latin typeface="DeepSeek-CJK-patch"/>
              </a:rPr>
              <a:t>: Usage of interactive elements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404040"/>
                </a:solidFill>
                <a:latin typeface="DeepSeek-CJK-patch"/>
              </a:rPr>
              <a:t>Data Downloads</a:t>
            </a:r>
            <a:r>
              <a:rPr lang="en-US" sz="1600" dirty="0">
                <a:solidFill>
                  <a:srgbClr val="404040"/>
                </a:solidFill>
                <a:latin typeface="DeepSeek-CJK-patch"/>
              </a:rPr>
              <a:t>: Utilization of export functionality</a:t>
            </a:r>
            <a:endParaRPr lang="en-US" sz="1600" b="0" i="0" dirty="0">
              <a:solidFill>
                <a:srgbClr val="404040"/>
              </a:solidFill>
              <a:effectLst/>
              <a:latin typeface="DeepSeek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155037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11658" y="2676436"/>
            <a:ext cx="862447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COVID data is historical; no longer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 model is simple—limited accuracy for chaotic data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Streamlit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has some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constraints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larger data</a:t>
            </a:r>
          </a:p>
        </p:txBody>
      </p:sp>
    </p:spTree>
    <p:extLst>
      <p:ext uri="{BB962C8B-B14F-4D97-AF65-F5344CB8AC3E}">
        <p14:creationId xmlns:p14="http://schemas.microsoft.com/office/powerpoint/2010/main" val="893025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Conclusion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209550" y="2529871"/>
            <a:ext cx="1153072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interactive dashboard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COVID-19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for descriptive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 smtClean="0">
                <a:latin typeface="Arial" panose="020B0604020202020204" pitchFamily="34" charset="0"/>
              </a:rPr>
              <a:t>And diagnostic </a:t>
            </a:r>
            <a:r>
              <a:rPr lang="en-US" altLang="en-US" sz="2400" dirty="0" err="1" smtClean="0">
                <a:latin typeface="Arial" panose="020B0604020202020204" pitchFamily="34" charset="0"/>
              </a:rPr>
              <a:t>analyysis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Demonstrated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forecasting using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ARIMA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predictive analysis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Project demonstrates strong command over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visualization &amp; data science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30812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Any Questions?</a:t>
            </a:r>
            <a:endParaRPr lang="en-US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521208" y="2606502"/>
            <a:ext cx="42672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/>
              <a:t> </a:t>
            </a:r>
            <a:r>
              <a:rPr lang="en-US" sz="24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2679208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xmlns:p14="http://schemas.microsoft.com/office/powerpoint/2010/main" spd="slow">
        <p:fade/>
      </p:transition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108_Welcome to Powerpoint 2016_CLR_v2" id="{CAB9082A-965C-42BE-8170-C940D3319B60}" vid="{82B84162-888A-4FD2-BEC9-B29B6DB2C73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0072C5-DDE0-4258-BA7A-4D4B80DFA63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0</TotalTime>
  <Words>1343</Words>
  <Application>Microsoft Office PowerPoint</Application>
  <PresentationFormat>Widescreen</PresentationFormat>
  <Paragraphs>221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DeepSeek-CJK-patch</vt:lpstr>
      <vt:lpstr>Google Sans</vt:lpstr>
      <vt:lpstr>Segoe UI</vt:lpstr>
      <vt:lpstr>Segoe UI Light</vt:lpstr>
      <vt:lpstr>WelcomeDoc</vt:lpstr>
      <vt:lpstr>COVID-19 Global Dashboard</vt:lpstr>
      <vt:lpstr>Project Overview</vt:lpstr>
      <vt:lpstr>Web Framework for Data Science</vt:lpstr>
      <vt:lpstr>Framework for data engineering Django</vt:lpstr>
      <vt:lpstr>Framework for data engineering Django</vt:lpstr>
      <vt:lpstr>Web Framework for Data Engineering- Flask</vt:lpstr>
      <vt:lpstr>Framework for Data Engineering – Streamlet </vt:lpstr>
      <vt:lpstr>Project Overview</vt:lpstr>
      <vt:lpstr>Streamlet Web Server configuration</vt:lpstr>
      <vt:lpstr>Streamlet Overview</vt:lpstr>
      <vt:lpstr>Streamlet Overview</vt:lpstr>
      <vt:lpstr>Streamlet Overview</vt:lpstr>
      <vt:lpstr>Streamlet Overview (Sidebar)</vt:lpstr>
      <vt:lpstr>Dataset –Our World in Data</vt:lpstr>
      <vt:lpstr>Data loading (pandas)</vt:lpstr>
      <vt:lpstr>Business Analysis (Descriptve)</vt:lpstr>
      <vt:lpstr>Business Analysis (Diagnostic)</vt:lpstr>
      <vt:lpstr>Business Analysis (Predictive)</vt:lpstr>
      <vt:lpstr>Business Analysis (Predictive)</vt:lpstr>
      <vt:lpstr>Business Analysis (Prescriptive)</vt:lpstr>
      <vt:lpstr>Business Analysis (Descriptive)</vt:lpstr>
      <vt:lpstr>Business Analysis (Descriptive)</vt:lpstr>
      <vt:lpstr>Business Analysis (Diagnostic)</vt:lpstr>
      <vt:lpstr>Business Analysis (Prescriptive)</vt:lpstr>
      <vt:lpstr>Map View – Streamlit -Choropleth Map</vt:lpstr>
      <vt:lpstr>System Architecture / Diagram</vt:lpstr>
      <vt:lpstr>Flowchart</vt:lpstr>
      <vt:lpstr>Why Use Streamlit?</vt:lpstr>
      <vt:lpstr>Why Use Streamlit?</vt:lpstr>
      <vt:lpstr>Results / Insights</vt:lpstr>
      <vt:lpstr>Key Performance Indicators (KPIs) for COVID-19 Dashboard</vt:lpstr>
      <vt:lpstr>Limitations</vt:lpstr>
      <vt:lpstr>Conclusion</vt:lpstr>
      <vt:lpstr>Any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2025-05-08T05:40:18Z</dcterms:created>
  <dcterms:modified xsi:type="dcterms:W3CDTF">2025-11-24T12:21:56Z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